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4"/>
  </p:sldMasterIdLst>
  <p:notesMasterIdLst>
    <p:notesMasterId r:id="rId12"/>
  </p:notesMasterIdLst>
  <p:sldIdLst>
    <p:sldId id="1300" r:id="rId5"/>
    <p:sldId id="1291" r:id="rId6"/>
    <p:sldId id="1301" r:id="rId7"/>
    <p:sldId id="1302" r:id="rId8"/>
    <p:sldId id="1295" r:id="rId9"/>
    <p:sldId id="1296" r:id="rId10"/>
    <p:sldId id="1250" r:id="rId1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92" userDrawn="1">
          <p15:clr>
            <a:srgbClr val="A4A3A4"/>
          </p15:clr>
        </p15:guide>
        <p15:guide id="2" pos="192" userDrawn="1">
          <p15:clr>
            <a:srgbClr val="A4A3A4"/>
          </p15:clr>
        </p15:guide>
        <p15:guide id="3" orient="horz" pos="1080" userDrawn="1">
          <p15:clr>
            <a:srgbClr val="A4A3A4"/>
          </p15:clr>
        </p15:guide>
      </p15:sldGuideLst>
    </p:ext>
    <p:ext uri="http://customooxmlschemas.google.com/">
      <go:slidesCustomData xmlns=""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EEFF"/>
    <a:srgbClr val="213164"/>
    <a:srgbClr val="484F9E"/>
    <a:srgbClr val="F9FFEB"/>
    <a:srgbClr val="EDFFC5"/>
    <a:srgbClr val="7FBA00"/>
    <a:srgbClr val="EBEEF9"/>
    <a:srgbClr val="FED500"/>
    <a:srgbClr val="F6AB1B"/>
    <a:srgbClr val="F7BA1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706" autoAdjust="0"/>
  </p:normalViewPr>
  <p:slideViewPr>
    <p:cSldViewPr snapToGrid="0">
      <p:cViewPr varScale="1">
        <p:scale>
          <a:sx n="95" d="100"/>
          <a:sy n="95" d="100"/>
        </p:scale>
        <p:origin x="178" y="72"/>
      </p:cViewPr>
      <p:guideLst>
        <p:guide orient="horz" pos="792"/>
        <p:guide pos="192"/>
        <p:guide orient="horz" pos="10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3" Type="http://schemas.openxmlformats.org/officeDocument/2006/relationships/customXml" Target="../customXml/item3.xml"/><Relationship Id="rId222"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notesMaster" Target="notesMasters/notesMaster1.xml"/><Relationship Id="rId2" Type="http://schemas.openxmlformats.org/officeDocument/2006/relationships/customXml" Target="../customXml/item2.xml"/><Relationship Id="rId22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20" Type="http://customschemas.google.com/relationships/presentationmetadata" Target="metadata"/><Relationship Id="rId225"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slide" Target="slides/slide6.xml"/><Relationship Id="rId22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223"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shitha.K. Ramesh" userId="be9617c9ffa9e8ef" providerId="LiveId" clId="{9AD7F523-0D27-4ABC-B346-2C1621072A9F}"/>
    <pc:docChg chg="modSld">
      <pc:chgData name="Harshitha.K. Ramesh" userId="be9617c9ffa9e8ef" providerId="LiveId" clId="{9AD7F523-0D27-4ABC-B346-2C1621072A9F}" dt="2025-11-06T14:05:46.026" v="4" actId="115"/>
      <pc:docMkLst>
        <pc:docMk/>
      </pc:docMkLst>
      <pc:sldChg chg="modSp mod">
        <pc:chgData name="Harshitha.K. Ramesh" userId="be9617c9ffa9e8ef" providerId="LiveId" clId="{9AD7F523-0D27-4ABC-B346-2C1621072A9F}" dt="2025-11-06T14:05:46.026" v="4" actId="115"/>
        <pc:sldMkLst>
          <pc:docMk/>
          <pc:sldMk cId="2746043547" sldId="1291"/>
        </pc:sldMkLst>
        <pc:spChg chg="mod">
          <ac:chgData name="Harshitha.K. Ramesh" userId="be9617c9ffa9e8ef" providerId="LiveId" clId="{9AD7F523-0D27-4ABC-B346-2C1621072A9F}" dt="2025-11-06T14:05:46.026" v="4" actId="115"/>
          <ac:spMkLst>
            <pc:docMk/>
            <pc:sldMk cId="2746043547" sldId="1291"/>
            <ac:spMk id="9" creationId="{091B843F-6928-3290-2287-5FA1F531B68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308025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pPr marL="158750" indent="0">
              <a:buNone/>
            </a:pPr>
            <a:endParaRPr lang="en-US" b="1"/>
          </a:p>
        </p:txBody>
      </p:sp>
      <p:sp>
        <p:nvSpPr>
          <p:cNvPr id="4" name="Slide Number Placeholder 3"/>
          <p:cNvSpPr>
            <a:spLocks noGrp="1"/>
          </p:cNvSpPr>
          <p:nvPr>
            <p:ph type="sldNum"/>
          </p:nvPr>
        </p:nvSpPr>
        <p:spPr/>
        <p:txBody>
          <a:bodyPr/>
          <a:lstStyle/>
          <a:p>
            <a:pPr algn="r"/>
            <a:fld id="{023E65BA-FB28-47C4-A217-44F00343302E}" type="slidenum">
              <a:rPr lang="en-US" sz="1400" b="0" strike="noStrike" spc="-1">
                <a:latin typeface="Times New Roman"/>
              </a:rPr>
              <a:t>1</a:t>
            </a:fld>
            <a:endParaRPr lang="en-US" sz="1400" b="0" strike="noStrike" spc="-1">
              <a:latin typeface="Times New Roman"/>
            </a:endParaRPr>
          </a:p>
        </p:txBody>
      </p:sp>
    </p:spTree>
    <p:extLst>
      <p:ext uri="{BB962C8B-B14F-4D97-AF65-F5344CB8AC3E}">
        <p14:creationId xmlns:p14="http://schemas.microsoft.com/office/powerpoint/2010/main" val="36197839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110891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016580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21134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48123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038455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r>
              <a:rPr lang="en-US" b="1" spc="-5">
                <a:solidFill>
                  <a:srgbClr val="223366"/>
                </a:solidFill>
              </a:rPr>
              <a:t>Thank You !!</a:t>
            </a:r>
            <a:endParaRPr lang="en-US" sz="1100" b="1" spc="-5">
              <a:solidFill>
                <a:srgbClr val="223366"/>
              </a:solidFill>
            </a:endParaRPr>
          </a:p>
        </p:txBody>
      </p:sp>
    </p:spTree>
    <p:extLst>
      <p:ext uri="{BB962C8B-B14F-4D97-AF65-F5344CB8AC3E}">
        <p14:creationId xmlns:p14="http://schemas.microsoft.com/office/powerpoint/2010/main" val="254420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27718775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82664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userDrawn="1"/>
        </p:nvPicPr>
        <p:blipFill rotWithShape="1">
          <a:blip r:embed="rId5">
            <a:alphaModFix/>
          </a:blip>
          <a:srcRect/>
          <a:stretch/>
        </p:blipFill>
        <p:spPr>
          <a:xfrm>
            <a:off x="10072688" y="78002"/>
            <a:ext cx="1800225" cy="575514"/>
          </a:xfrm>
          <a:prstGeom prst="rect">
            <a:avLst/>
          </a:prstGeom>
          <a:noFill/>
          <a:ln>
            <a:noFill/>
          </a:ln>
        </p:spPr>
      </p:pic>
      <p:sp>
        <p:nvSpPr>
          <p:cNvPr id="15" name="Rectangle 14">
            <a:extLst>
              <a:ext uri="{FF2B5EF4-FFF2-40B4-BE49-F238E27FC236}">
                <a16:creationId xmlns:a16="http://schemas.microsoft.com/office/drawing/2014/main" id="{E153E6A6-60E4-FE14-1CBC-8CC211274D1C}"/>
              </a:ext>
            </a:extLst>
          </p:cNvPr>
          <p:cNvSpPr/>
          <p:nvPr userDrawn="1"/>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2C7CE881-772B-9023-3054-4B219B75D755}"/>
              </a:ext>
            </a:extLst>
          </p:cNvPr>
          <p:cNvSpPr/>
          <p:nvPr userDrawn="1"/>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a:extLst>
              <a:ext uri="{FF2B5EF4-FFF2-40B4-BE49-F238E27FC236}">
                <a16:creationId xmlns:a16="http://schemas.microsoft.com/office/drawing/2014/main" id="{16A7B69A-9B14-87FE-841D-37F0A91D141D}"/>
              </a:ext>
            </a:extLst>
          </p:cNvPr>
          <p:cNvPicPr>
            <a:picLocks noChangeAspect="1"/>
          </p:cNvPicPr>
          <p:nvPr userDrawn="1"/>
        </p:nvPicPr>
        <p:blipFill rotWithShape="1">
          <a:blip r:embed="rId6">
            <a:alphaModFix amt="16000"/>
          </a:blip>
          <a:srcRect t="24724" r="1619" b="63695"/>
          <a:stretch/>
        </p:blipFill>
        <p:spPr>
          <a:xfrm>
            <a:off x="0" y="-1"/>
            <a:ext cx="9839325" cy="723901"/>
          </a:xfrm>
          <a:prstGeom prst="rect">
            <a:avLst/>
          </a:prstGeom>
        </p:spPr>
      </p:pic>
      <p:sp>
        <p:nvSpPr>
          <p:cNvPr id="2" name="Rectangle 1">
            <a:extLst>
              <a:ext uri="{FF2B5EF4-FFF2-40B4-BE49-F238E27FC236}">
                <a16:creationId xmlns:a16="http://schemas.microsoft.com/office/drawing/2014/main" id="{37B91A16-5D54-2FC0-B0FD-A78085FC1313}"/>
              </a:ext>
            </a:extLst>
          </p:cNvPr>
          <p:cNvSpPr/>
          <p:nvPr userDrawn="1"/>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701" r:id="rId1"/>
    <p:sldLayoutId id="2147483714" r:id="rId2"/>
    <p:sldLayoutId id="2147483727"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hyperlink" Target="https://iot.ieee.org/" TargetMode="External"/><Relationship Id="rId3" Type="http://schemas.openxmlformats.org/officeDocument/2006/relationships/hyperlink" Target="https://www.meity.gov.in/" TargetMode="External"/><Relationship Id="rId7" Type="http://schemas.openxmlformats.org/officeDocument/2006/relationships/hyperlink" Target="https://www.nist.gov/"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s://www.who.int/" TargetMode="External"/><Relationship Id="rId5" Type="http://schemas.openxmlformats.org/officeDocument/2006/relationships/hyperlink" Target="https://data.gov.in/" TargetMode="External"/><Relationship Id="rId10" Type="http://schemas.openxmlformats.org/officeDocument/2006/relationships/hyperlink" Target="https://www.kaggle.com/" TargetMode="External"/><Relationship Id="rId4" Type="http://schemas.openxmlformats.org/officeDocument/2006/relationships/hyperlink" Target="https://www.mohfw.gov.in/" TargetMode="External"/><Relationship Id="rId9" Type="http://schemas.openxmlformats.org/officeDocument/2006/relationships/hyperlink" Target="https://pubmed.ncbi.nlm.nih.gov/"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person sitting at a desk with a computer&#10;&#10;Description automatically generated">
            <a:extLst>
              <a:ext uri="{FF2B5EF4-FFF2-40B4-BE49-F238E27FC236}">
                <a16:creationId xmlns:a16="http://schemas.microsoft.com/office/drawing/2014/main" id="{02540B31-8123-24C6-B0F3-4444B51E9487}"/>
              </a:ext>
            </a:extLst>
          </p:cNvPr>
          <p:cNvPicPr>
            <a:picLocks noChangeAspect="1"/>
          </p:cNvPicPr>
          <p:nvPr/>
        </p:nvPicPr>
        <p:blipFill>
          <a:blip r:embed="rId3"/>
          <a:stretch>
            <a:fillRect/>
          </a:stretch>
        </p:blipFill>
        <p:spPr>
          <a:xfrm>
            <a:off x="0" y="0"/>
            <a:ext cx="12192000" cy="6858000"/>
          </a:xfrm>
          <a:prstGeom prst="rect">
            <a:avLst/>
          </a:prstGeom>
        </p:spPr>
      </p:pic>
      <p:sp>
        <p:nvSpPr>
          <p:cNvPr id="5" name="Rectangle: Rounded Corners 4">
            <a:extLst>
              <a:ext uri="{FF2B5EF4-FFF2-40B4-BE49-F238E27FC236}">
                <a16:creationId xmlns:a16="http://schemas.microsoft.com/office/drawing/2014/main" id="{BB9AA95F-56F4-3F03-5804-8F7C6AFCE0BB}"/>
              </a:ext>
            </a:extLst>
          </p:cNvPr>
          <p:cNvSpPr/>
          <p:nvPr/>
        </p:nvSpPr>
        <p:spPr>
          <a:xfrm>
            <a:off x="8885816" y="584200"/>
            <a:ext cx="1661534" cy="977900"/>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E395316D-1E70-9E4D-C82D-DC6493EC4CED}"/>
              </a:ext>
            </a:extLst>
          </p:cNvPr>
          <p:cNvSpPr txBox="1"/>
          <p:nvPr/>
        </p:nvSpPr>
        <p:spPr>
          <a:xfrm>
            <a:off x="5417820" y="2146301"/>
            <a:ext cx="5760720" cy="1323439"/>
          </a:xfrm>
          <a:prstGeom prst="rect">
            <a:avLst/>
          </a:prstGeom>
          <a:noFill/>
        </p:spPr>
        <p:txBody>
          <a:bodyPr wrap="square" lIns="91440" tIns="45720" rIns="91440" bIns="45720" rtlCol="0" anchor="t">
            <a:spAutoFit/>
          </a:bodyPr>
          <a:lstStyle/>
          <a:p>
            <a:pPr algn="ctr"/>
            <a:r>
              <a:rPr lang="en-US" sz="4000" dirty="0">
                <a:solidFill>
                  <a:schemeClr val="bg1"/>
                </a:solidFill>
                <a:highlight>
                  <a:srgbClr val="213164"/>
                </a:highlight>
              </a:rPr>
              <a:t>RELIFE ASSIST</a:t>
            </a:r>
          </a:p>
          <a:p>
            <a:endParaRPr lang="en-US" sz="4000" dirty="0">
              <a:solidFill>
                <a:schemeClr val="bg1"/>
              </a:solidFill>
              <a:highlight>
                <a:srgbClr val="213164"/>
              </a:highlight>
            </a:endParaRPr>
          </a:p>
        </p:txBody>
      </p:sp>
      <p:pic>
        <p:nvPicPr>
          <p:cNvPr id="19" name="Picture 18" descr="A close up of a logo&#10;&#10;Description automatically generated">
            <a:extLst>
              <a:ext uri="{FF2B5EF4-FFF2-40B4-BE49-F238E27FC236}">
                <a16:creationId xmlns:a16="http://schemas.microsoft.com/office/drawing/2014/main" id="{2A27540A-9E08-71C9-C49B-6AA04DE6EB1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051325" y="834658"/>
            <a:ext cx="1263157" cy="410834"/>
          </a:xfrm>
          <a:prstGeom prst="rect">
            <a:avLst/>
          </a:prstGeom>
        </p:spPr>
      </p:pic>
      <p:sp>
        <p:nvSpPr>
          <p:cNvPr id="2" name="TextBox 1">
            <a:extLst>
              <a:ext uri="{FF2B5EF4-FFF2-40B4-BE49-F238E27FC236}">
                <a16:creationId xmlns:a16="http://schemas.microsoft.com/office/drawing/2014/main" id="{938525A2-49D0-AAD6-F4EE-F488AD21601D}"/>
              </a:ext>
            </a:extLst>
          </p:cNvPr>
          <p:cNvSpPr txBox="1"/>
          <p:nvPr/>
        </p:nvSpPr>
        <p:spPr>
          <a:xfrm>
            <a:off x="5097780" y="3154680"/>
            <a:ext cx="6438900" cy="3508653"/>
          </a:xfrm>
          <a:prstGeom prst="rect">
            <a:avLst/>
          </a:prstGeom>
          <a:noFill/>
        </p:spPr>
        <p:txBody>
          <a:bodyPr wrap="square" lIns="91440" tIns="45720" rIns="91440" bIns="45720" rtlCol="0" anchor="t">
            <a:spAutoFit/>
          </a:bodyPr>
          <a:lstStyle/>
          <a:p>
            <a:r>
              <a:rPr lang="en-US" sz="1850" dirty="0">
                <a:solidFill>
                  <a:schemeClr val="bg1"/>
                </a:solidFill>
              </a:rPr>
              <a:t>College Name  : PES College Of Engineering</a:t>
            </a:r>
            <a:endParaRPr lang="en-US" dirty="0"/>
          </a:p>
          <a:p>
            <a:r>
              <a:rPr lang="en-US" sz="1850" dirty="0">
                <a:solidFill>
                  <a:schemeClr val="bg1"/>
                </a:solidFill>
              </a:rPr>
              <a:t>Student names : Harshitha K Ramesh (4PS24CI021)</a:t>
            </a:r>
          </a:p>
          <a:p>
            <a:r>
              <a:rPr lang="en-US" sz="1850" dirty="0">
                <a:solidFill>
                  <a:schemeClr val="bg1"/>
                </a:solidFill>
              </a:rPr>
              <a:t>                           Bhavana G Chinmayi(4PS24CI005)</a:t>
            </a:r>
          </a:p>
          <a:p>
            <a:r>
              <a:rPr lang="en-US" sz="1850" dirty="0">
                <a:solidFill>
                  <a:schemeClr val="bg1"/>
                </a:solidFill>
              </a:rPr>
              <a:t>                           Harshith R                 (4PS24CI019)                         </a:t>
            </a:r>
          </a:p>
          <a:p>
            <a:r>
              <a:rPr lang="en-US" sz="1850" dirty="0">
                <a:solidFill>
                  <a:schemeClr val="bg1"/>
                </a:solidFill>
              </a:rPr>
              <a:t>                           Harshitha S               (Lateral Entry)</a:t>
            </a:r>
          </a:p>
          <a:p>
            <a:r>
              <a:rPr lang="en-US" sz="1850" dirty="0">
                <a:solidFill>
                  <a:schemeClr val="bg1"/>
                </a:solidFill>
              </a:rPr>
              <a:t>Team ID           : S4F_CP_Team_47783</a:t>
            </a:r>
          </a:p>
          <a:p>
            <a:endParaRPr lang="en-US" sz="1850" dirty="0">
              <a:solidFill>
                <a:schemeClr val="bg1"/>
              </a:solidFill>
            </a:endParaRPr>
          </a:p>
          <a:p>
            <a:endParaRPr lang="en-US" sz="1850" dirty="0">
              <a:solidFill>
                <a:schemeClr val="bg1"/>
              </a:solidFill>
            </a:endParaRPr>
          </a:p>
          <a:p>
            <a:endParaRPr lang="en-US" sz="1850" dirty="0">
              <a:solidFill>
                <a:schemeClr val="bg1"/>
              </a:solidFill>
            </a:endParaRPr>
          </a:p>
          <a:p>
            <a:endParaRPr lang="en-US" sz="1850" dirty="0">
              <a:solidFill>
                <a:schemeClr val="bg1"/>
              </a:solidFill>
            </a:endParaRPr>
          </a:p>
          <a:p>
            <a:endParaRPr lang="en-US" sz="1850" dirty="0">
              <a:solidFill>
                <a:schemeClr val="bg1"/>
              </a:solidFill>
            </a:endParaRPr>
          </a:p>
          <a:p>
            <a:endParaRPr lang="en-IN" sz="1850" dirty="0">
              <a:solidFill>
                <a:schemeClr val="bg1"/>
              </a:solidFill>
            </a:endParaRPr>
          </a:p>
        </p:txBody>
      </p:sp>
    </p:spTree>
    <p:extLst>
      <p:ext uri="{BB962C8B-B14F-4D97-AF65-F5344CB8AC3E}">
        <p14:creationId xmlns:p14="http://schemas.microsoft.com/office/powerpoint/2010/main" val="20009507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9" name="TextBox 8">
            <a:extLst>
              <a:ext uri="{FF2B5EF4-FFF2-40B4-BE49-F238E27FC236}">
                <a16:creationId xmlns:a16="http://schemas.microsoft.com/office/drawing/2014/main" id="{091B843F-6928-3290-2287-5FA1F531B685}"/>
              </a:ext>
            </a:extLst>
          </p:cNvPr>
          <p:cNvSpPr txBox="1"/>
          <p:nvPr/>
        </p:nvSpPr>
        <p:spPr>
          <a:xfrm>
            <a:off x="210314" y="1451569"/>
            <a:ext cx="10435915" cy="5232586"/>
          </a:xfrm>
          <a:prstGeom prst="rect">
            <a:avLst/>
          </a:prstGeom>
          <a:noFill/>
        </p:spPr>
        <p:txBody>
          <a:bodyPr wrap="square" rtlCol="0">
            <a:spAutoFit/>
          </a:bodyPr>
          <a:lstStyle/>
          <a:p>
            <a:pPr marL="285750" indent="-285750">
              <a:spcAft>
                <a:spcPts val="800"/>
              </a:spcAft>
              <a:buFont typeface="Wingdings" panose="05000000000000000000" pitchFamily="2" charset="2"/>
              <a:buChar char="q"/>
            </a:pPr>
            <a:r>
              <a:rPr lang="en-US" b="1" dirty="0"/>
              <a:t>Brief overview:</a:t>
            </a:r>
          </a:p>
          <a:p>
            <a:pPr marL="342900" indent="-342900">
              <a:spcAft>
                <a:spcPts val="800"/>
              </a:spcAft>
              <a:buFont typeface="Wingdings" panose="05000000000000000000" pitchFamily="2" charset="2"/>
              <a:buChar char="Ø"/>
            </a:pPr>
            <a:r>
              <a:rPr lang="en-US" dirty="0"/>
              <a:t>In this case study, we propose an </a:t>
            </a:r>
            <a:r>
              <a:rPr lang="en-US" i="1" u="sng" dirty="0"/>
              <a:t>IoT-based assistive system designed with sustainability </a:t>
            </a:r>
            <a:r>
              <a:rPr lang="en-US" dirty="0"/>
              <a:t>in mind. It uses energy-efficient devices, recyclable materials, and green design principles</a:t>
            </a:r>
            <a:r>
              <a:rPr lang="en-US" i="1" dirty="0"/>
              <a:t>. </a:t>
            </a:r>
            <a:r>
              <a:rPr lang="en-US" i="1" u="sng" dirty="0"/>
              <a:t>The system keeps track of vital health signals, detects falls, reminds medication timings, and sends alerts during emergencies</a:t>
            </a:r>
            <a:r>
              <a:rPr lang="en-US" dirty="0"/>
              <a:t>. At the same time, it reduces environmental harm by using durable and reusable components, </a:t>
            </a:r>
            <a:r>
              <a:rPr lang="en-US" i="1" u="sng" dirty="0"/>
              <a:t>helping us build a greener solution for elderly care</a:t>
            </a:r>
            <a:r>
              <a:rPr lang="en-US" dirty="0"/>
              <a:t>.</a:t>
            </a:r>
          </a:p>
          <a:p>
            <a:pPr marL="285750" indent="-285750">
              <a:spcAft>
                <a:spcPts val="800"/>
              </a:spcAft>
              <a:buFont typeface="Wingdings" panose="05000000000000000000" pitchFamily="2" charset="2"/>
              <a:buChar char="q"/>
            </a:pPr>
            <a:r>
              <a:rPr lang="en-US" sz="1800" b="1" dirty="0"/>
              <a:t>Key Objectives:</a:t>
            </a:r>
          </a:p>
          <a:p>
            <a:pPr marL="285750" indent="-285750">
              <a:spcAft>
                <a:spcPts val="800"/>
              </a:spcAft>
              <a:buFont typeface="Wingdings" panose="05000000000000000000" pitchFamily="2" charset="2"/>
              <a:buChar char="Ø"/>
            </a:pPr>
            <a:r>
              <a:rPr lang="en-US" sz="1800" dirty="0"/>
              <a:t> Use eco-friendly materials for device casing or wearable covers.</a:t>
            </a:r>
          </a:p>
          <a:p>
            <a:pPr marL="285750" indent="-285750">
              <a:spcAft>
                <a:spcPts val="800"/>
              </a:spcAft>
              <a:buFont typeface="Wingdings" panose="05000000000000000000" pitchFamily="2" charset="2"/>
              <a:buChar char="Ø"/>
            </a:pPr>
            <a:r>
              <a:rPr lang="en-US" sz="1800" dirty="0"/>
              <a:t> Include sensors and modules that consume very low power.</a:t>
            </a:r>
          </a:p>
          <a:p>
            <a:pPr marL="285750" indent="-285750">
              <a:spcAft>
                <a:spcPts val="800"/>
              </a:spcAft>
              <a:buFont typeface="Wingdings" panose="05000000000000000000" pitchFamily="2" charset="2"/>
              <a:buChar char="Ø"/>
            </a:pPr>
            <a:r>
              <a:rPr lang="en-US" sz="1800" dirty="0"/>
              <a:t> Promote recycling and reusing old parts through a Waste Bank system.</a:t>
            </a:r>
          </a:p>
          <a:p>
            <a:pPr marL="285750" indent="-285750">
              <a:spcAft>
                <a:spcPts val="800"/>
              </a:spcAft>
              <a:buFont typeface="Wingdings" panose="05000000000000000000" pitchFamily="2" charset="2"/>
              <a:buChar char="Ø"/>
            </a:pPr>
            <a:r>
              <a:rPr lang="en-US" sz="1800" dirty="0"/>
              <a:t> Use recyclable metals like green steel in device structures.</a:t>
            </a:r>
          </a:p>
          <a:p>
            <a:pPr marL="285750" indent="-285750">
              <a:spcAft>
                <a:spcPts val="800"/>
              </a:spcAft>
              <a:buFont typeface="Wingdings" panose="05000000000000000000" pitchFamily="2" charset="2"/>
              <a:buChar char="Ø"/>
            </a:pPr>
            <a:r>
              <a:rPr lang="en-US" sz="1800" dirty="0"/>
              <a:t> Design hardware that can be easily upgraded or repaired to prevent e-waste.</a:t>
            </a:r>
            <a:br>
              <a:rPr lang="en-US" sz="1800" dirty="0"/>
            </a:br>
            <a:endParaRPr lang="en-US" sz="1800" dirty="0">
              <a:latin typeface="+mn-lt"/>
            </a:endParaRPr>
          </a:p>
          <a:p>
            <a:pPr marL="285750" indent="-285750">
              <a:spcAft>
                <a:spcPts val="800"/>
              </a:spcAft>
              <a:buFont typeface="Wingdings" panose="05000000000000000000" pitchFamily="2" charset="2"/>
              <a:buChar char="q"/>
            </a:pPr>
            <a:endParaRPr lang="en-US" sz="1800" dirty="0">
              <a:latin typeface="+mn-lt"/>
            </a:endParaRPr>
          </a:p>
          <a:p>
            <a:pPr marL="231642" indent="-231642">
              <a:spcAft>
                <a:spcPts val="800"/>
              </a:spcAft>
              <a:buFont typeface="Arial" panose="020B0604020202020204" pitchFamily="34" charset="0"/>
              <a:buChar char="•"/>
            </a:pPr>
            <a:endParaRPr lang="en-US" sz="1800" dirty="0">
              <a:latin typeface="+mn-lt"/>
            </a:endParaRPr>
          </a:p>
        </p:txBody>
      </p:sp>
      <p:sp>
        <p:nvSpPr>
          <p:cNvPr id="2" name="TextBox 1">
            <a:extLst>
              <a:ext uri="{FF2B5EF4-FFF2-40B4-BE49-F238E27FC236}">
                <a16:creationId xmlns:a16="http://schemas.microsoft.com/office/drawing/2014/main" id="{687AFAD5-578C-DC2D-F127-90FF4287354D}"/>
              </a:ext>
            </a:extLst>
          </p:cNvPr>
          <p:cNvSpPr txBox="1"/>
          <p:nvPr/>
        </p:nvSpPr>
        <p:spPr>
          <a:xfrm>
            <a:off x="202071" y="972537"/>
            <a:ext cx="5904091" cy="400110"/>
          </a:xfrm>
          <a:prstGeom prst="rect">
            <a:avLst/>
          </a:prstGeom>
          <a:noFill/>
        </p:spPr>
        <p:txBody>
          <a:bodyPr wrap="square">
            <a:spAutoFit/>
          </a:bodyPr>
          <a:lstStyle/>
          <a:p>
            <a:r>
              <a:rPr lang="en-IN" sz="2000" b="1" dirty="0">
                <a:solidFill>
                  <a:srgbClr val="213163"/>
                </a:solidFill>
              </a:rPr>
              <a:t>Problem Statement</a:t>
            </a:r>
            <a:endParaRPr lang="en-IN" sz="2000" dirty="0">
              <a:solidFill>
                <a:srgbClr val="213163"/>
              </a:solidFill>
            </a:endParaRPr>
          </a:p>
        </p:txBody>
      </p:sp>
      <p:sp>
        <p:nvSpPr>
          <p:cNvPr id="6" name="TextBox 5">
            <a:extLst>
              <a:ext uri="{FF2B5EF4-FFF2-40B4-BE49-F238E27FC236}">
                <a16:creationId xmlns:a16="http://schemas.microsoft.com/office/drawing/2014/main" id="{8041DB6F-3EF1-B8E1-0B0C-6BB8EF6A90DC}"/>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7" name="TextBox 6">
            <a:extLst>
              <a:ext uri="{FF2B5EF4-FFF2-40B4-BE49-F238E27FC236}">
                <a16:creationId xmlns:a16="http://schemas.microsoft.com/office/drawing/2014/main" id="{7EA2C555-3BC3-F99C-66A0-2DF7D76A6867}"/>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3">
                  <a:extLst>
                    <a:ext uri="{A12FA001-AC4F-418D-AE19-62706E023703}">
                      <ahyp:hlinkClr xmlns:ahyp="http://schemas.microsoft.com/office/drawing/2018/hyperlinkcolor" val="tx"/>
                    </a:ext>
                  </a:extLst>
                </a:hlinkClick>
              </a:rPr>
              <a:t>www.freepik.com/</a:t>
            </a:r>
            <a:endParaRPr lang="en-IN" sz="1200" dirty="0">
              <a:solidFill>
                <a:srgbClr val="0000FF"/>
              </a:solidFill>
              <a:latin typeface="+mn-lt"/>
            </a:endParaRPr>
          </a:p>
        </p:txBody>
      </p:sp>
      <p:cxnSp>
        <p:nvCxnSpPr>
          <p:cNvPr id="12" name="Straight Connector 11">
            <a:extLst>
              <a:ext uri="{FF2B5EF4-FFF2-40B4-BE49-F238E27FC236}">
                <a16:creationId xmlns:a16="http://schemas.microsoft.com/office/drawing/2014/main" id="{1365C893-2FDF-21FF-3B51-777D91501B7C}"/>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6043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9" name="TextBox 8">
            <a:extLst>
              <a:ext uri="{FF2B5EF4-FFF2-40B4-BE49-F238E27FC236}">
                <a16:creationId xmlns:a16="http://schemas.microsoft.com/office/drawing/2014/main" id="{091B843F-6928-3290-2287-5FA1F531B685}"/>
              </a:ext>
            </a:extLst>
          </p:cNvPr>
          <p:cNvSpPr txBox="1"/>
          <p:nvPr/>
        </p:nvSpPr>
        <p:spPr>
          <a:xfrm>
            <a:off x="210314" y="1451569"/>
            <a:ext cx="10435915" cy="3898503"/>
          </a:xfrm>
          <a:prstGeom prst="rect">
            <a:avLst/>
          </a:prstGeom>
          <a:noFill/>
        </p:spPr>
        <p:txBody>
          <a:bodyPr wrap="square" rtlCol="0">
            <a:spAutoFit/>
          </a:bodyPr>
          <a:lstStyle/>
          <a:p>
            <a:pPr marL="285750" indent="-285750">
              <a:spcAft>
                <a:spcPts val="800"/>
              </a:spcAft>
              <a:buFont typeface="Wingdings" panose="05000000000000000000" pitchFamily="2" charset="2"/>
              <a:buChar char="q"/>
            </a:pPr>
            <a:r>
              <a:rPr lang="en-US" sz="1800" b="1" dirty="0"/>
              <a:t>Dataset Description:</a:t>
            </a:r>
          </a:p>
          <a:p>
            <a:pPr marL="285750" indent="-285750">
              <a:spcAft>
                <a:spcPts val="800"/>
              </a:spcAft>
              <a:buFont typeface="Wingdings" panose="05000000000000000000" pitchFamily="2" charset="2"/>
              <a:buChar char="Ø"/>
            </a:pPr>
            <a:r>
              <a:rPr lang="en-US" sz="1800" dirty="0"/>
              <a:t>The dataset mainly includes health-related sensor readings and daily activity information. It contains values like heart rate, oxygen level, body temperature, movement data, fall detection events, medication timings, and location stamps. The data is stored in formats like CSV or JSON and can include about 5,000 to 10,000 records depending on how frequently data is collected. The purpose of this data is to train and test machine learning models for fall detection, health monitoring, and reminder scheduling. The data is collected using wearable sensors connected to an IoT device and stored in the cloud.</a:t>
            </a:r>
          </a:p>
          <a:p>
            <a:pPr marL="285750" indent="-285750">
              <a:spcAft>
                <a:spcPts val="800"/>
              </a:spcAft>
              <a:buFont typeface="Wingdings" panose="05000000000000000000" pitchFamily="2" charset="2"/>
              <a:buChar char="Ø"/>
            </a:pPr>
            <a:r>
              <a:rPr lang="en-US" sz="1400" b="1" dirty="0"/>
              <a:t>Type of Data</a:t>
            </a:r>
            <a:r>
              <a:rPr lang="en-US" sz="1800" dirty="0"/>
              <a:t>: Health vitals like heart rate (BPM), body temperature, and blood oxygen (SpO₂).Movement and activity data from accelerometer and gyroscope </a:t>
            </a:r>
            <a:r>
              <a:rPr lang="en-US" sz="1800" dirty="0" err="1"/>
              <a:t>sensors.Fall</a:t>
            </a:r>
            <a:r>
              <a:rPr lang="en-US" sz="1800" dirty="0"/>
              <a:t> detection data that records when a sudden change in motion </a:t>
            </a:r>
            <a:r>
              <a:rPr lang="en-US" sz="1800" dirty="0" err="1"/>
              <a:t>occurs.Medication</a:t>
            </a:r>
            <a:r>
              <a:rPr lang="en-US" sz="1800" dirty="0"/>
              <a:t> reminders and compliance logs (when reminders were sent and when or if medicine was taken).Location or movement path using GPS or indoor positioning.</a:t>
            </a:r>
          </a:p>
        </p:txBody>
      </p:sp>
      <p:sp>
        <p:nvSpPr>
          <p:cNvPr id="2" name="TextBox 1">
            <a:extLst>
              <a:ext uri="{FF2B5EF4-FFF2-40B4-BE49-F238E27FC236}">
                <a16:creationId xmlns:a16="http://schemas.microsoft.com/office/drawing/2014/main" id="{687AFAD5-578C-DC2D-F127-90FF4287354D}"/>
              </a:ext>
            </a:extLst>
          </p:cNvPr>
          <p:cNvSpPr txBox="1"/>
          <p:nvPr/>
        </p:nvSpPr>
        <p:spPr>
          <a:xfrm>
            <a:off x="202071" y="972537"/>
            <a:ext cx="5904091" cy="400110"/>
          </a:xfrm>
          <a:prstGeom prst="rect">
            <a:avLst/>
          </a:prstGeom>
          <a:noFill/>
        </p:spPr>
        <p:txBody>
          <a:bodyPr wrap="square">
            <a:spAutoFit/>
          </a:bodyPr>
          <a:lstStyle/>
          <a:p>
            <a:r>
              <a:rPr lang="en-IN" sz="2000" b="1" dirty="0">
                <a:solidFill>
                  <a:srgbClr val="213163"/>
                </a:solidFill>
              </a:rPr>
              <a:t>Dataset Overview(Optional)</a:t>
            </a:r>
            <a:endParaRPr lang="en-IN" sz="2000" dirty="0">
              <a:solidFill>
                <a:srgbClr val="213163"/>
              </a:solidFill>
            </a:endParaRPr>
          </a:p>
        </p:txBody>
      </p:sp>
      <p:sp>
        <p:nvSpPr>
          <p:cNvPr id="6" name="TextBox 5">
            <a:extLst>
              <a:ext uri="{FF2B5EF4-FFF2-40B4-BE49-F238E27FC236}">
                <a16:creationId xmlns:a16="http://schemas.microsoft.com/office/drawing/2014/main" id="{8041DB6F-3EF1-B8E1-0B0C-6BB8EF6A90DC}"/>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7" name="TextBox 6">
            <a:extLst>
              <a:ext uri="{FF2B5EF4-FFF2-40B4-BE49-F238E27FC236}">
                <a16:creationId xmlns:a16="http://schemas.microsoft.com/office/drawing/2014/main" id="{7EA2C555-3BC3-F99C-66A0-2DF7D76A6867}"/>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3">
                  <a:extLst>
                    <a:ext uri="{A12FA001-AC4F-418D-AE19-62706E023703}">
                      <ahyp:hlinkClr xmlns:ahyp="http://schemas.microsoft.com/office/drawing/2018/hyperlinkcolor" val="tx"/>
                    </a:ext>
                  </a:extLst>
                </a:hlinkClick>
              </a:rPr>
              <a:t>www.freepik.com/</a:t>
            </a:r>
            <a:endParaRPr lang="en-IN" sz="1200" dirty="0">
              <a:solidFill>
                <a:srgbClr val="0000FF"/>
              </a:solidFill>
              <a:latin typeface="+mn-lt"/>
            </a:endParaRPr>
          </a:p>
        </p:txBody>
      </p:sp>
      <p:cxnSp>
        <p:nvCxnSpPr>
          <p:cNvPr id="12" name="Straight Connector 11">
            <a:extLst>
              <a:ext uri="{FF2B5EF4-FFF2-40B4-BE49-F238E27FC236}">
                <a16:creationId xmlns:a16="http://schemas.microsoft.com/office/drawing/2014/main" id="{1365C893-2FDF-21FF-3B51-777D91501B7C}"/>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62887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9" name="TextBox 8">
            <a:extLst>
              <a:ext uri="{FF2B5EF4-FFF2-40B4-BE49-F238E27FC236}">
                <a16:creationId xmlns:a16="http://schemas.microsoft.com/office/drawing/2014/main" id="{091B843F-6928-3290-2287-5FA1F531B685}"/>
              </a:ext>
            </a:extLst>
          </p:cNvPr>
          <p:cNvSpPr txBox="1"/>
          <p:nvPr/>
        </p:nvSpPr>
        <p:spPr>
          <a:xfrm>
            <a:off x="210314" y="1451569"/>
            <a:ext cx="10435915" cy="4924425"/>
          </a:xfrm>
          <a:prstGeom prst="rect">
            <a:avLst/>
          </a:prstGeom>
          <a:noFill/>
        </p:spPr>
        <p:txBody>
          <a:bodyPr wrap="square" rtlCol="0">
            <a:spAutoFit/>
          </a:bodyPr>
          <a:lstStyle/>
          <a:p>
            <a:pPr marL="285750" indent="-285750">
              <a:spcAft>
                <a:spcPts val="800"/>
              </a:spcAft>
              <a:buFont typeface="Wingdings" panose="05000000000000000000" pitchFamily="2" charset="2"/>
              <a:buChar char="q"/>
            </a:pPr>
            <a:r>
              <a:rPr lang="en-US" sz="1800" b="1" dirty="0">
                <a:latin typeface="+mn-lt"/>
              </a:rPr>
              <a:t>Approach</a:t>
            </a:r>
            <a:r>
              <a:rPr lang="en-US" sz="1800" dirty="0">
                <a:latin typeface="+mn-lt"/>
              </a:rPr>
              <a:t>: </a:t>
            </a:r>
          </a:p>
          <a:p>
            <a:pPr marL="285750" indent="-285750">
              <a:spcAft>
                <a:spcPts val="800"/>
              </a:spcAft>
              <a:buFont typeface="Wingdings" panose="05000000000000000000" pitchFamily="2" charset="2"/>
              <a:buChar char="Ø"/>
            </a:pPr>
            <a:r>
              <a:rPr lang="en-US" sz="1800" dirty="0">
                <a:latin typeface="+mn-lt"/>
              </a:rPr>
              <a:t>Identified the problem and user requirements</a:t>
            </a:r>
          </a:p>
          <a:p>
            <a:pPr marL="285750" indent="-285750">
              <a:spcAft>
                <a:spcPts val="800"/>
              </a:spcAft>
              <a:buFont typeface="Wingdings" panose="05000000000000000000" pitchFamily="2" charset="2"/>
              <a:buChar char="Ø"/>
            </a:pPr>
            <a:r>
              <a:rPr lang="en-US" sz="1800" dirty="0">
                <a:latin typeface="+mn-lt"/>
              </a:rPr>
              <a:t>Selected eco-friendly hardware and sensors</a:t>
            </a:r>
          </a:p>
          <a:p>
            <a:pPr marL="285750" indent="-285750">
              <a:spcAft>
                <a:spcPts val="800"/>
              </a:spcAft>
              <a:buFont typeface="Wingdings" panose="05000000000000000000" pitchFamily="2" charset="2"/>
              <a:buChar char="Ø"/>
            </a:pPr>
            <a:r>
              <a:rPr lang="en-US" sz="1800" dirty="0">
                <a:latin typeface="+mn-lt"/>
              </a:rPr>
              <a:t>Designed the IoT-based monitoring system</a:t>
            </a:r>
          </a:p>
          <a:p>
            <a:pPr marL="285750" indent="-285750">
              <a:spcAft>
                <a:spcPts val="800"/>
              </a:spcAft>
              <a:buFont typeface="Wingdings" panose="05000000000000000000" pitchFamily="2" charset="2"/>
              <a:buChar char="Ø"/>
            </a:pPr>
            <a:r>
              <a:rPr lang="en-US" sz="1800" dirty="0">
                <a:latin typeface="+mn-lt"/>
              </a:rPr>
              <a:t>Applied ML algorithms for detection and alerts</a:t>
            </a:r>
          </a:p>
          <a:p>
            <a:pPr marL="285750" indent="-285750">
              <a:spcAft>
                <a:spcPts val="800"/>
              </a:spcAft>
              <a:buFont typeface="Wingdings" panose="05000000000000000000" pitchFamily="2" charset="2"/>
              <a:buChar char="Ø"/>
            </a:pPr>
            <a:r>
              <a:rPr lang="en-US" sz="1800" dirty="0">
                <a:latin typeface="+mn-lt"/>
              </a:rPr>
              <a:t>Tested the system and improved performance</a:t>
            </a:r>
          </a:p>
          <a:p>
            <a:pPr marL="285750" indent="-285750">
              <a:spcAft>
                <a:spcPts val="800"/>
              </a:spcAft>
              <a:buFont typeface="Wingdings" panose="05000000000000000000" pitchFamily="2" charset="2"/>
              <a:buChar char="q"/>
            </a:pPr>
            <a:r>
              <a:rPr lang="en-US" sz="1800" b="1" dirty="0"/>
              <a:t>Algorithms Used:</a:t>
            </a:r>
          </a:p>
          <a:p>
            <a:pPr marL="285750" indent="-285750">
              <a:spcAft>
                <a:spcPts val="800"/>
              </a:spcAft>
              <a:buFont typeface="Wingdings" panose="05000000000000000000" pitchFamily="2" charset="2"/>
              <a:buChar char="Ø"/>
            </a:pPr>
            <a:r>
              <a:rPr lang="en-US" sz="1800" dirty="0">
                <a:latin typeface="+mn-lt"/>
              </a:rPr>
              <a:t>Natural language processor(NLP) – voice assistant</a:t>
            </a:r>
          </a:p>
          <a:p>
            <a:pPr marL="285750" indent="-285750">
              <a:spcAft>
                <a:spcPts val="800"/>
              </a:spcAft>
              <a:buFont typeface="Wingdings" panose="05000000000000000000" pitchFamily="2" charset="2"/>
              <a:buChar char="Ø"/>
            </a:pPr>
            <a:r>
              <a:rPr lang="en-US" sz="1800" dirty="0">
                <a:latin typeface="+mn-lt"/>
              </a:rPr>
              <a:t>Machine learning(ML) – fall detection , time(routine) </a:t>
            </a:r>
          </a:p>
          <a:p>
            <a:pPr marL="285750" indent="-285750">
              <a:spcAft>
                <a:spcPts val="800"/>
              </a:spcAft>
              <a:buFont typeface="Wingdings" panose="05000000000000000000" pitchFamily="2" charset="2"/>
              <a:buChar char="Ø"/>
            </a:pPr>
            <a:r>
              <a:rPr lang="en-US" sz="1800" dirty="0">
                <a:latin typeface="+mn-lt"/>
              </a:rPr>
              <a:t>Time-series models (such as ARIMA)</a:t>
            </a:r>
          </a:p>
          <a:p>
            <a:pPr marL="285750" indent="-285750">
              <a:spcAft>
                <a:spcPts val="800"/>
              </a:spcAft>
              <a:buFont typeface="Wingdings" panose="05000000000000000000" pitchFamily="2" charset="2"/>
              <a:buChar char="Ø"/>
            </a:pPr>
            <a:r>
              <a:rPr lang="en-US" sz="1800" dirty="0">
                <a:latin typeface="+mn-lt"/>
              </a:rPr>
              <a:t>Naïve Bayes</a:t>
            </a:r>
          </a:p>
          <a:p>
            <a:pPr marL="285750" indent="-285750">
              <a:spcAft>
                <a:spcPts val="800"/>
              </a:spcAft>
              <a:buFont typeface="Wingdings" panose="05000000000000000000" pitchFamily="2" charset="2"/>
              <a:buChar char="Ø"/>
            </a:pPr>
            <a:r>
              <a:rPr lang="en-US" sz="1800" dirty="0">
                <a:latin typeface="+mn-lt"/>
              </a:rPr>
              <a:t>Rule-based fall detection using accelerometer signals</a:t>
            </a:r>
          </a:p>
          <a:p>
            <a:pPr marL="285750" indent="-285750">
              <a:spcAft>
                <a:spcPts val="800"/>
              </a:spcAft>
              <a:buFont typeface="Wingdings" panose="05000000000000000000" pitchFamily="2" charset="2"/>
              <a:buChar char="Ø"/>
            </a:pPr>
            <a:endParaRPr lang="en-US" sz="1800" dirty="0">
              <a:latin typeface="+mn-lt"/>
            </a:endParaRPr>
          </a:p>
        </p:txBody>
      </p:sp>
      <p:sp>
        <p:nvSpPr>
          <p:cNvPr id="2" name="TextBox 1">
            <a:extLst>
              <a:ext uri="{FF2B5EF4-FFF2-40B4-BE49-F238E27FC236}">
                <a16:creationId xmlns:a16="http://schemas.microsoft.com/office/drawing/2014/main" id="{687AFAD5-578C-DC2D-F127-90FF4287354D}"/>
              </a:ext>
            </a:extLst>
          </p:cNvPr>
          <p:cNvSpPr txBox="1"/>
          <p:nvPr/>
        </p:nvSpPr>
        <p:spPr>
          <a:xfrm>
            <a:off x="202071" y="972537"/>
            <a:ext cx="5904091" cy="400110"/>
          </a:xfrm>
          <a:prstGeom prst="rect">
            <a:avLst/>
          </a:prstGeom>
          <a:noFill/>
        </p:spPr>
        <p:txBody>
          <a:bodyPr wrap="square">
            <a:spAutoFit/>
          </a:bodyPr>
          <a:lstStyle/>
          <a:p>
            <a:r>
              <a:rPr lang="en-IN" sz="2000" b="1" dirty="0">
                <a:solidFill>
                  <a:srgbClr val="213163"/>
                </a:solidFill>
              </a:rPr>
              <a:t>Methodology</a:t>
            </a:r>
            <a:endParaRPr lang="en-IN" sz="2000" dirty="0">
              <a:solidFill>
                <a:srgbClr val="213163"/>
              </a:solidFill>
            </a:endParaRPr>
          </a:p>
        </p:txBody>
      </p:sp>
      <p:sp>
        <p:nvSpPr>
          <p:cNvPr id="6" name="TextBox 5">
            <a:extLst>
              <a:ext uri="{FF2B5EF4-FFF2-40B4-BE49-F238E27FC236}">
                <a16:creationId xmlns:a16="http://schemas.microsoft.com/office/drawing/2014/main" id="{8041DB6F-3EF1-B8E1-0B0C-6BB8EF6A90DC}"/>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7" name="TextBox 6">
            <a:extLst>
              <a:ext uri="{FF2B5EF4-FFF2-40B4-BE49-F238E27FC236}">
                <a16:creationId xmlns:a16="http://schemas.microsoft.com/office/drawing/2014/main" id="{7EA2C555-3BC3-F99C-66A0-2DF7D76A6867}"/>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3">
                  <a:extLst>
                    <a:ext uri="{A12FA001-AC4F-418D-AE19-62706E023703}">
                      <ahyp:hlinkClr xmlns:ahyp="http://schemas.microsoft.com/office/drawing/2018/hyperlinkcolor" val="tx"/>
                    </a:ext>
                  </a:extLst>
                </a:hlinkClick>
              </a:rPr>
              <a:t>www.freepik.com/</a:t>
            </a:r>
            <a:endParaRPr lang="en-IN" sz="1200" dirty="0">
              <a:solidFill>
                <a:srgbClr val="0000FF"/>
              </a:solidFill>
              <a:latin typeface="+mn-lt"/>
            </a:endParaRPr>
          </a:p>
        </p:txBody>
      </p:sp>
      <p:cxnSp>
        <p:nvCxnSpPr>
          <p:cNvPr id="12" name="Straight Connector 11">
            <a:extLst>
              <a:ext uri="{FF2B5EF4-FFF2-40B4-BE49-F238E27FC236}">
                <a16:creationId xmlns:a16="http://schemas.microsoft.com/office/drawing/2014/main" id="{1365C893-2FDF-21FF-3B51-777D91501B7C}"/>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54300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3" name="TextBox 2">
            <a:extLst>
              <a:ext uri="{FF2B5EF4-FFF2-40B4-BE49-F238E27FC236}">
                <a16:creationId xmlns:a16="http://schemas.microsoft.com/office/drawing/2014/main" id="{02C0F50E-3048-BEA6-6962-A48C023C0388}"/>
              </a:ext>
            </a:extLst>
          </p:cNvPr>
          <p:cNvSpPr txBox="1"/>
          <p:nvPr/>
        </p:nvSpPr>
        <p:spPr>
          <a:xfrm>
            <a:off x="212231" y="962377"/>
            <a:ext cx="5904091" cy="400110"/>
          </a:xfrm>
          <a:prstGeom prst="rect">
            <a:avLst/>
          </a:prstGeom>
          <a:noFill/>
        </p:spPr>
        <p:txBody>
          <a:bodyPr wrap="square">
            <a:spAutoFit/>
          </a:bodyPr>
          <a:lstStyle/>
          <a:p>
            <a:r>
              <a:rPr lang="en-IN" sz="2000" b="1" dirty="0">
                <a:solidFill>
                  <a:srgbClr val="213163"/>
                </a:solidFill>
              </a:rPr>
              <a:t>Conclusion</a:t>
            </a:r>
            <a:endParaRPr lang="en-IN" sz="2000" dirty="0">
              <a:solidFill>
                <a:srgbClr val="213163"/>
              </a:solidFill>
            </a:endParaRPr>
          </a:p>
        </p:txBody>
      </p:sp>
      <p:sp>
        <p:nvSpPr>
          <p:cNvPr id="4" name="TextBox 3">
            <a:extLst>
              <a:ext uri="{FF2B5EF4-FFF2-40B4-BE49-F238E27FC236}">
                <a16:creationId xmlns:a16="http://schemas.microsoft.com/office/drawing/2014/main" id="{EC8B546F-F91E-160B-DC7F-688AFB5A50EA}"/>
              </a:ext>
            </a:extLst>
          </p:cNvPr>
          <p:cNvSpPr txBox="1"/>
          <p:nvPr/>
        </p:nvSpPr>
        <p:spPr>
          <a:xfrm>
            <a:off x="210314" y="1461898"/>
            <a:ext cx="7028686" cy="6001643"/>
          </a:xfrm>
          <a:prstGeom prst="rect">
            <a:avLst/>
          </a:prstGeom>
          <a:noFill/>
        </p:spPr>
        <p:txBody>
          <a:bodyPr wrap="square" rtlCol="0">
            <a:spAutoFit/>
          </a:bodyPr>
          <a:lstStyle/>
          <a:p>
            <a:pPr marL="285750" indent="-285750">
              <a:spcAft>
                <a:spcPts val="800"/>
              </a:spcAft>
              <a:buFont typeface="Wingdings" panose="05000000000000000000" pitchFamily="2" charset="2"/>
              <a:buChar char="q"/>
            </a:pPr>
            <a:r>
              <a:rPr lang="en-US" sz="1800" b="1" dirty="0">
                <a:latin typeface="+mn-lt"/>
              </a:rPr>
              <a:t>Summary:</a:t>
            </a:r>
          </a:p>
          <a:p>
            <a:pPr marL="285750" indent="-285750">
              <a:spcAft>
                <a:spcPts val="800"/>
              </a:spcAft>
              <a:buFont typeface="Wingdings" panose="05000000000000000000" pitchFamily="2" charset="2"/>
              <a:buChar char="Ø"/>
            </a:pPr>
            <a:r>
              <a:rPr lang="en-US" sz="1400" dirty="0">
                <a:latin typeface="+mn-lt"/>
              </a:rPr>
              <a:t>This eco-friendly IoT system successfully supports elderly people who live alone by offering continuous health monitoring, fall detection, medication reminders, and quick emergency alerts. It promotes independence and safety while also caring for the environment by using sustainable materials and energy-efficient designs. The project results show that the system is effective, practical, and can be scaled for a larger population. It reduces reliance on caregivers and encourages a responsible, eco-conscious approach to elderly care.</a:t>
            </a:r>
          </a:p>
          <a:p>
            <a:pPr marL="285750" indent="-285750">
              <a:spcAft>
                <a:spcPts val="800"/>
              </a:spcAft>
              <a:buFont typeface="Wingdings" panose="05000000000000000000" pitchFamily="2" charset="2"/>
              <a:buChar char="q"/>
            </a:pPr>
            <a:r>
              <a:rPr lang="en-US" sz="1800" b="1" dirty="0">
                <a:latin typeface="+mn-lt"/>
              </a:rPr>
              <a:t>Future Work:</a:t>
            </a:r>
          </a:p>
          <a:p>
            <a:pPr marL="285750" indent="-285750">
              <a:spcAft>
                <a:spcPts val="800"/>
              </a:spcAft>
              <a:buFont typeface="Wingdings" panose="05000000000000000000" pitchFamily="2" charset="2"/>
              <a:buChar char="Ø"/>
            </a:pPr>
            <a:r>
              <a:rPr lang="en-US" sz="1400" dirty="0">
                <a:latin typeface="+mn-lt"/>
              </a:rPr>
              <a:t>Use solar-powered wearable devices for cleaner energy</a:t>
            </a:r>
          </a:p>
          <a:p>
            <a:pPr marL="285750" indent="-285750">
              <a:spcAft>
                <a:spcPts val="800"/>
              </a:spcAft>
              <a:buFont typeface="Wingdings" panose="05000000000000000000" pitchFamily="2" charset="2"/>
              <a:buChar char="Ø"/>
            </a:pPr>
            <a:r>
              <a:rPr lang="en-US" sz="1400" dirty="0">
                <a:latin typeface="+mn-lt"/>
              </a:rPr>
              <a:t>Switch to fully biodegradable and plant-based device casings</a:t>
            </a:r>
          </a:p>
          <a:p>
            <a:pPr marL="285750" indent="-285750">
              <a:spcAft>
                <a:spcPts val="800"/>
              </a:spcAft>
              <a:buFont typeface="Wingdings" panose="05000000000000000000" pitchFamily="2" charset="2"/>
              <a:buChar char="Ø"/>
            </a:pPr>
            <a:r>
              <a:rPr lang="en-US" sz="1400" dirty="0">
                <a:latin typeface="+mn-lt"/>
              </a:rPr>
              <a:t>Add personalized health prediction using advanced AI</a:t>
            </a:r>
          </a:p>
          <a:p>
            <a:pPr marL="285750" indent="-285750">
              <a:spcAft>
                <a:spcPts val="800"/>
              </a:spcAft>
              <a:buFont typeface="Wingdings" panose="05000000000000000000" pitchFamily="2" charset="2"/>
              <a:buChar char="Ø"/>
            </a:pPr>
            <a:r>
              <a:rPr lang="en-US" sz="1400" dirty="0">
                <a:latin typeface="+mn-lt"/>
              </a:rPr>
              <a:t>Connect the system to smart home devices for automation</a:t>
            </a:r>
          </a:p>
          <a:p>
            <a:pPr marL="285750" indent="-285750">
              <a:spcAft>
                <a:spcPts val="800"/>
              </a:spcAft>
              <a:buFont typeface="Wingdings" panose="05000000000000000000" pitchFamily="2" charset="2"/>
              <a:buChar char="Ø"/>
            </a:pPr>
            <a:r>
              <a:rPr lang="en-US" sz="1400" dirty="0">
                <a:latin typeface="+mn-lt"/>
              </a:rPr>
              <a:t>Provide voice-based emotional support</a:t>
            </a:r>
          </a:p>
          <a:p>
            <a:pPr marL="285750" indent="-285750">
              <a:spcAft>
                <a:spcPts val="800"/>
              </a:spcAft>
              <a:buFont typeface="Wingdings" panose="05000000000000000000" pitchFamily="2" charset="2"/>
              <a:buChar char="Ø"/>
            </a:pPr>
            <a:r>
              <a:rPr lang="en-US" sz="1400" dirty="0">
                <a:latin typeface="+mn-lt"/>
              </a:rPr>
              <a:t>Detect stress or loneliness using behavior patterns</a:t>
            </a:r>
          </a:p>
          <a:p>
            <a:pPr marL="285750" indent="-285750">
              <a:spcAft>
                <a:spcPts val="800"/>
              </a:spcAft>
              <a:buFont typeface="Wingdings" panose="05000000000000000000" pitchFamily="2" charset="2"/>
              <a:buChar char="Ø"/>
            </a:pPr>
            <a:r>
              <a:rPr lang="en-US" sz="1400" dirty="0">
                <a:latin typeface="+mn-lt"/>
              </a:rPr>
              <a:t>Use blockchain to secure medical records</a:t>
            </a:r>
            <a:br>
              <a:rPr lang="en-US" sz="1800" b="1" dirty="0">
                <a:latin typeface="+mn-lt"/>
              </a:rPr>
            </a:br>
            <a:endParaRPr lang="en-US" sz="1800" b="1" dirty="0">
              <a:latin typeface="+mn-lt"/>
            </a:endParaRPr>
          </a:p>
          <a:p>
            <a:pPr marL="228600" indent="-228600">
              <a:spcAft>
                <a:spcPts val="800"/>
              </a:spcAft>
              <a:buFont typeface="Arial" panose="020B0604020202020204" pitchFamily="34" charset="0"/>
              <a:buChar char="•"/>
            </a:pPr>
            <a:endParaRPr lang="en-US" sz="1800" dirty="0">
              <a:latin typeface="+mn-lt"/>
            </a:endParaRPr>
          </a:p>
          <a:p>
            <a:pPr marL="228600" indent="-228600">
              <a:spcAft>
                <a:spcPts val="800"/>
              </a:spcAft>
              <a:buFont typeface="Arial" panose="020B0604020202020204" pitchFamily="34" charset="0"/>
              <a:buChar char="•"/>
            </a:pPr>
            <a:endParaRPr lang="en-US" sz="1800" dirty="0">
              <a:latin typeface="+mn-lt"/>
            </a:endParaRPr>
          </a:p>
          <a:p>
            <a:pPr marL="228600" indent="-228600">
              <a:spcAft>
                <a:spcPts val="800"/>
              </a:spcAft>
              <a:buFont typeface="Arial" panose="020B0604020202020204" pitchFamily="34" charset="0"/>
              <a:buChar char="•"/>
            </a:pPr>
            <a:endParaRPr lang="en-US" sz="1800" dirty="0">
              <a:latin typeface="+mn-lt"/>
            </a:endParaRPr>
          </a:p>
        </p:txBody>
      </p:sp>
      <p:sp>
        <p:nvSpPr>
          <p:cNvPr id="8" name="TextBox 7">
            <a:extLst>
              <a:ext uri="{FF2B5EF4-FFF2-40B4-BE49-F238E27FC236}">
                <a16:creationId xmlns:a16="http://schemas.microsoft.com/office/drawing/2014/main" id="{FF6EE1DD-6A31-2A28-F8BE-6E59037422CF}"/>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9" name="TextBox 8">
            <a:extLst>
              <a:ext uri="{FF2B5EF4-FFF2-40B4-BE49-F238E27FC236}">
                <a16:creationId xmlns:a16="http://schemas.microsoft.com/office/drawing/2014/main" id="{18F06934-F528-B704-BB31-70471CEEB0BF}"/>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3">
                  <a:extLst>
                    <a:ext uri="{A12FA001-AC4F-418D-AE19-62706E023703}">
                      <ahyp:hlinkClr xmlns:ahyp="http://schemas.microsoft.com/office/drawing/2018/hyperlinkcolor" val="tx"/>
                    </a:ext>
                  </a:extLst>
                </a:hlinkClick>
              </a:rPr>
              <a:t>www.freepik.com/</a:t>
            </a:r>
            <a:endParaRPr lang="en-IN" sz="1200" dirty="0">
              <a:solidFill>
                <a:srgbClr val="0000FF"/>
              </a:solidFill>
              <a:latin typeface="+mn-lt"/>
            </a:endParaRPr>
          </a:p>
        </p:txBody>
      </p:sp>
      <p:cxnSp>
        <p:nvCxnSpPr>
          <p:cNvPr id="10" name="Straight Connector 9">
            <a:extLst>
              <a:ext uri="{FF2B5EF4-FFF2-40B4-BE49-F238E27FC236}">
                <a16:creationId xmlns:a16="http://schemas.microsoft.com/office/drawing/2014/main" id="{6247989A-A2B1-6748-7E8A-F0362FB212B6}"/>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2" name="Picture 1" descr="A light bulb with a black background&#10;&#10;Description automatically generated">
            <a:extLst>
              <a:ext uri="{FF2B5EF4-FFF2-40B4-BE49-F238E27FC236}">
                <a16:creationId xmlns:a16="http://schemas.microsoft.com/office/drawing/2014/main" id="{75F7452F-58BC-17CE-3016-C04F4A0BB586}"/>
              </a:ext>
            </a:extLst>
          </p:cNvPr>
          <p:cNvPicPr>
            <a:picLocks noChangeAspect="1"/>
          </p:cNvPicPr>
          <p:nvPr/>
        </p:nvPicPr>
        <p:blipFill rotWithShape="1">
          <a:blip r:embed="rId4"/>
          <a:srcRect l="7117" t="5427" r="7295" b="7474"/>
          <a:stretch/>
        </p:blipFill>
        <p:spPr>
          <a:xfrm>
            <a:off x="7112000" y="1092200"/>
            <a:ext cx="4551680" cy="4632115"/>
          </a:xfrm>
          <a:prstGeom prst="rect">
            <a:avLst/>
          </a:prstGeom>
        </p:spPr>
      </p:pic>
    </p:spTree>
    <p:extLst>
      <p:ext uri="{BB962C8B-B14F-4D97-AF65-F5344CB8AC3E}">
        <p14:creationId xmlns:p14="http://schemas.microsoft.com/office/powerpoint/2010/main" val="20463212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3" name="TextBox 2">
            <a:extLst>
              <a:ext uri="{FF2B5EF4-FFF2-40B4-BE49-F238E27FC236}">
                <a16:creationId xmlns:a16="http://schemas.microsoft.com/office/drawing/2014/main" id="{02C0F50E-3048-BEA6-6962-A48C023C0388}"/>
              </a:ext>
            </a:extLst>
          </p:cNvPr>
          <p:cNvSpPr txBox="1"/>
          <p:nvPr/>
        </p:nvSpPr>
        <p:spPr>
          <a:xfrm>
            <a:off x="257951" y="901417"/>
            <a:ext cx="9282289" cy="3170099"/>
          </a:xfrm>
          <a:prstGeom prst="rect">
            <a:avLst/>
          </a:prstGeom>
          <a:noFill/>
        </p:spPr>
        <p:txBody>
          <a:bodyPr wrap="square">
            <a:spAutoFit/>
          </a:bodyPr>
          <a:lstStyle/>
          <a:p>
            <a:pPr marL="342900" indent="-342900">
              <a:buFont typeface="Wingdings" panose="05000000000000000000" pitchFamily="2" charset="2"/>
              <a:buChar char="q"/>
            </a:pPr>
            <a:r>
              <a:rPr lang="en-IN" sz="2000" b="1" dirty="0">
                <a:solidFill>
                  <a:srgbClr val="213163"/>
                </a:solidFill>
              </a:rPr>
              <a:t>References:</a:t>
            </a:r>
          </a:p>
          <a:p>
            <a:pPr marL="342900" indent="-342900">
              <a:buFont typeface="Wingdings" panose="05000000000000000000" pitchFamily="2" charset="2"/>
              <a:buChar char="Ø"/>
            </a:pPr>
            <a:r>
              <a:rPr lang="en-US" sz="2000" dirty="0">
                <a:solidFill>
                  <a:srgbClr val="213163"/>
                </a:solidFill>
              </a:rPr>
              <a:t>Ministry of Electronics &amp; IT (</a:t>
            </a:r>
            <a:r>
              <a:rPr lang="en-US" sz="2000" dirty="0" err="1">
                <a:solidFill>
                  <a:srgbClr val="213163"/>
                </a:solidFill>
              </a:rPr>
              <a:t>MeitY</a:t>
            </a:r>
            <a:r>
              <a:rPr lang="en-US" sz="2000" dirty="0">
                <a:solidFill>
                  <a:srgbClr val="213163"/>
                </a:solidFill>
              </a:rPr>
              <a:t>) – </a:t>
            </a:r>
            <a:r>
              <a:rPr lang="en-US" sz="2000" dirty="0">
                <a:solidFill>
                  <a:srgbClr val="213163"/>
                </a:solidFill>
                <a:hlinkClick r:id="rId3"/>
              </a:rPr>
              <a:t>https://www.meity.gov.in</a:t>
            </a:r>
            <a:endParaRPr lang="en-US" sz="2000" dirty="0">
              <a:solidFill>
                <a:srgbClr val="213163"/>
              </a:solidFill>
            </a:endParaRPr>
          </a:p>
          <a:p>
            <a:pPr marL="342900" indent="-342900">
              <a:buFont typeface="Wingdings" panose="05000000000000000000" pitchFamily="2" charset="2"/>
              <a:buChar char="Ø"/>
            </a:pPr>
            <a:r>
              <a:rPr lang="en-US" sz="2000" dirty="0">
                <a:solidFill>
                  <a:srgbClr val="213163"/>
                </a:solidFill>
              </a:rPr>
              <a:t>Ministry of Health &amp; Family Welfare (</a:t>
            </a:r>
            <a:r>
              <a:rPr lang="en-US" sz="2000" dirty="0" err="1">
                <a:solidFill>
                  <a:srgbClr val="213163"/>
                </a:solidFill>
              </a:rPr>
              <a:t>MoHFW</a:t>
            </a:r>
            <a:r>
              <a:rPr lang="en-US" sz="2000" dirty="0">
                <a:solidFill>
                  <a:srgbClr val="213163"/>
                </a:solidFill>
              </a:rPr>
              <a:t>) – </a:t>
            </a:r>
            <a:r>
              <a:rPr lang="en-US" sz="2000" dirty="0">
                <a:solidFill>
                  <a:srgbClr val="213163"/>
                </a:solidFill>
                <a:hlinkClick r:id="rId4"/>
              </a:rPr>
              <a:t>https://www.mohfw.gov.in</a:t>
            </a:r>
            <a:endParaRPr lang="en-US" sz="2000" dirty="0">
              <a:solidFill>
                <a:srgbClr val="213163"/>
              </a:solidFill>
            </a:endParaRPr>
          </a:p>
          <a:p>
            <a:pPr marL="342900" indent="-342900">
              <a:buFont typeface="Wingdings" panose="05000000000000000000" pitchFamily="2" charset="2"/>
              <a:buChar char="Ø"/>
            </a:pPr>
            <a:r>
              <a:rPr lang="en-US" sz="2000" dirty="0">
                <a:solidFill>
                  <a:srgbClr val="213163"/>
                </a:solidFill>
              </a:rPr>
              <a:t>Open Government Data (OGD) Platform – </a:t>
            </a:r>
            <a:r>
              <a:rPr lang="en-US" sz="2000" dirty="0">
                <a:solidFill>
                  <a:srgbClr val="213163"/>
                </a:solidFill>
                <a:hlinkClick r:id="rId5"/>
              </a:rPr>
              <a:t>https://data.gov.in</a:t>
            </a:r>
            <a:endParaRPr lang="en-US" sz="2000" dirty="0">
              <a:solidFill>
                <a:srgbClr val="213163"/>
              </a:solidFill>
            </a:endParaRPr>
          </a:p>
          <a:p>
            <a:pPr marL="342900" indent="-342900">
              <a:buFont typeface="Wingdings" panose="05000000000000000000" pitchFamily="2" charset="2"/>
              <a:buChar char="Ø"/>
            </a:pPr>
            <a:r>
              <a:rPr lang="en-US" sz="2000" dirty="0">
                <a:solidFill>
                  <a:srgbClr val="213163"/>
                </a:solidFill>
              </a:rPr>
              <a:t>World Health Organization (WHO) – </a:t>
            </a:r>
            <a:r>
              <a:rPr lang="en-US" sz="2000" dirty="0">
                <a:solidFill>
                  <a:srgbClr val="213163"/>
                </a:solidFill>
                <a:hlinkClick r:id="rId6"/>
              </a:rPr>
              <a:t>https://www.who.int</a:t>
            </a:r>
            <a:endParaRPr lang="en-US" sz="2000" dirty="0">
              <a:solidFill>
                <a:srgbClr val="213163"/>
              </a:solidFill>
            </a:endParaRPr>
          </a:p>
          <a:p>
            <a:pPr marL="342900" indent="-342900">
              <a:buFont typeface="Wingdings" panose="05000000000000000000" pitchFamily="2" charset="2"/>
              <a:buChar char="Ø"/>
            </a:pPr>
            <a:r>
              <a:rPr lang="en-US" sz="2000" dirty="0">
                <a:solidFill>
                  <a:srgbClr val="213163"/>
                </a:solidFill>
              </a:rPr>
              <a:t>National Institute of Standards and Technology (NIST) – </a:t>
            </a:r>
            <a:r>
              <a:rPr lang="en-US" sz="2000" dirty="0">
                <a:solidFill>
                  <a:srgbClr val="213163"/>
                </a:solidFill>
                <a:hlinkClick r:id="rId7"/>
              </a:rPr>
              <a:t>https://www.nist.gov</a:t>
            </a:r>
            <a:endParaRPr lang="en-US" sz="2000" dirty="0">
              <a:solidFill>
                <a:srgbClr val="213163"/>
              </a:solidFill>
            </a:endParaRPr>
          </a:p>
          <a:p>
            <a:pPr marL="342900" indent="-342900">
              <a:buFont typeface="Wingdings" panose="05000000000000000000" pitchFamily="2" charset="2"/>
              <a:buChar char="Ø"/>
            </a:pPr>
            <a:r>
              <a:rPr lang="en-US" sz="2000" dirty="0">
                <a:solidFill>
                  <a:srgbClr val="213163"/>
                </a:solidFill>
              </a:rPr>
              <a:t>IEEE IoT Resources – </a:t>
            </a:r>
            <a:r>
              <a:rPr lang="en-US" sz="2000" dirty="0">
                <a:solidFill>
                  <a:srgbClr val="213163"/>
                </a:solidFill>
                <a:hlinkClick r:id="rId8"/>
              </a:rPr>
              <a:t>https://iot.ieee.org</a:t>
            </a:r>
            <a:endParaRPr lang="en-US" sz="2000" dirty="0">
              <a:solidFill>
                <a:srgbClr val="213163"/>
              </a:solidFill>
            </a:endParaRPr>
          </a:p>
          <a:p>
            <a:pPr marL="342900" indent="-342900">
              <a:buFont typeface="Wingdings" panose="05000000000000000000" pitchFamily="2" charset="2"/>
              <a:buChar char="Ø"/>
            </a:pPr>
            <a:r>
              <a:rPr lang="en-US" sz="2000" dirty="0">
                <a:solidFill>
                  <a:srgbClr val="213163"/>
                </a:solidFill>
              </a:rPr>
              <a:t>U.S. National Library of Medicine – </a:t>
            </a:r>
            <a:r>
              <a:rPr lang="en-US" sz="2000" dirty="0">
                <a:solidFill>
                  <a:srgbClr val="213163"/>
                </a:solidFill>
                <a:hlinkClick r:id="rId9"/>
              </a:rPr>
              <a:t>https://pubmed.ncbi.nlm.nih.gov</a:t>
            </a:r>
            <a:endParaRPr lang="en-US" sz="2000" dirty="0">
              <a:solidFill>
                <a:srgbClr val="213163"/>
              </a:solidFill>
            </a:endParaRPr>
          </a:p>
          <a:p>
            <a:pPr marL="342900" indent="-342900">
              <a:buFont typeface="Wingdings" panose="05000000000000000000" pitchFamily="2" charset="2"/>
              <a:buChar char="Ø"/>
            </a:pPr>
            <a:r>
              <a:rPr lang="en-US" sz="2000" dirty="0">
                <a:solidFill>
                  <a:srgbClr val="213163"/>
                </a:solidFill>
              </a:rPr>
              <a:t>Kaggle Open Datasets – </a:t>
            </a:r>
            <a:r>
              <a:rPr lang="en-US" sz="2000" dirty="0">
                <a:solidFill>
                  <a:srgbClr val="213163"/>
                </a:solidFill>
                <a:hlinkClick r:id="rId10"/>
              </a:rPr>
              <a:t>https://www.kaggle.com</a:t>
            </a:r>
            <a:r>
              <a:rPr lang="en-US" sz="2000" dirty="0">
                <a:solidFill>
                  <a:srgbClr val="213163"/>
                </a:solidFill>
              </a:rPr>
              <a:t> </a:t>
            </a:r>
          </a:p>
          <a:p>
            <a:pPr marL="342900" indent="-342900">
              <a:buFont typeface="Wingdings" panose="05000000000000000000" pitchFamily="2" charset="2"/>
              <a:buChar char="Ø"/>
            </a:pPr>
            <a:endParaRPr lang="en-IN" sz="2000" dirty="0">
              <a:solidFill>
                <a:srgbClr val="213163"/>
              </a:solidFill>
            </a:endParaRPr>
          </a:p>
        </p:txBody>
      </p:sp>
    </p:spTree>
    <p:extLst>
      <p:ext uri="{BB962C8B-B14F-4D97-AF65-F5344CB8AC3E}">
        <p14:creationId xmlns:p14="http://schemas.microsoft.com/office/powerpoint/2010/main" val="13079258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1;g5fab984687_2_0">
            <a:extLst>
              <a:ext uri="{FF2B5EF4-FFF2-40B4-BE49-F238E27FC236}">
                <a16:creationId xmlns:a16="http://schemas.microsoft.com/office/drawing/2014/main" id="{0C30A77F-BE9B-73CB-CC7F-A1F8B5B87AB9}"/>
              </a:ext>
            </a:extLst>
          </p:cNvPr>
          <p:cNvSpPr txBox="1">
            <a:spLocks/>
          </p:cNvSpPr>
          <p:nvPr/>
        </p:nvSpPr>
        <p:spPr>
          <a:xfrm>
            <a:off x="4315206" y="3214562"/>
            <a:ext cx="3561588" cy="98704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5000" b="1" dirty="0">
                <a:solidFill>
                  <a:srgbClr val="213163"/>
                </a:solidFill>
              </a:rPr>
              <a:t>Thank You</a:t>
            </a:r>
            <a:endParaRPr lang="en-US" sz="5000" dirty="0"/>
          </a:p>
        </p:txBody>
      </p:sp>
    </p:spTree>
    <p:extLst>
      <p:ext uri="{BB962C8B-B14F-4D97-AF65-F5344CB8AC3E}">
        <p14:creationId xmlns:p14="http://schemas.microsoft.com/office/powerpoint/2010/main" val="3544365122"/>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5" ma:contentTypeDescription="Create a new document." ma:contentTypeScope="" ma:versionID="7670618c03e54fbae4a17ecb2d0ed10f">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3d63de1c5a217044e31e0c8b260d3d71"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9162bd5b-4ed9-4da3-b376-05204580ba3f"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D9E5D5E-A365-4A49-8140-C8CC82A61608}">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6559A34-456E-49A1-8157-9E3D18BFAD36}">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3706AB80-2608-47D7-8AC8-FA6BC8A9B27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3841</TotalTime>
  <Words>759</Words>
  <Application>Microsoft Office PowerPoint</Application>
  <PresentationFormat>Widescreen</PresentationFormat>
  <Paragraphs>69</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Times New Roman</vt:lpstr>
      <vt:lpstr>Wingdings</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Moinudeen Syed</dc:creator>
  <cp:lastModifiedBy>Harshitha.K. Ramesh</cp:lastModifiedBy>
  <cp:revision>90</cp:revision>
  <dcterms:modified xsi:type="dcterms:W3CDTF">2025-11-06T14:05:55Z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